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C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75720" y="384048"/>
            <a:ext cx="201168" cy="201168"/>
          </a:xfrm>
          <a:prstGeom prst="ellipse">
            <a:avLst/>
          </a:prstGeom>
          <a:solidFill>
            <a:srgbClr val="6C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438912"/>
            <a:ext cx="100584" cy="100584"/>
          </a:xfrm>
          <a:prstGeom prst="ellipse">
            <a:avLst/>
          </a:prstGeom>
          <a:solidFill>
            <a:srgbClr val="6C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38404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6CA532"/>
                </a:solidFill>
                <a:latin typeface="Calibri"/>
              </a:rPr>
              <a:t>BRAND IDENTITY SYSTEM  · 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65836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400" b="1" i="0">
                <a:solidFill>
                  <a:srgbClr val="FFFFFF"/>
                </a:solidFill>
                <a:latin typeface="Calibri"/>
              </a:rPr>
              <a:t>vytra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97480"/>
            <a:ext cx="6400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E8F3DC"/>
                </a:solidFill>
                <a:latin typeface="Calibri"/>
              </a:rPr>
              <a:t>See Health. Detect Early.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91840"/>
            <a:ext cx="60350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C5D4C3"/>
                </a:solidFill>
                <a:latin typeface="Calibri"/>
              </a:rPr>
              <a:t>Official lockup, mark, colour and naming.
Use these files. Do not redraw the V, the leaf-pulse, or the wordmark.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989320"/>
            <a:ext cx="6766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9BB39A"/>
                </a:solidFill>
                <a:latin typeface="Calibri"/>
              </a:rPr>
              <a:t>SIH 2026   ·   Team VYTRA   ·   Identity 1.0  ·  13 Aug 2026   ·   Not a medical device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051560"/>
            <a:ext cx="416052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417320"/>
            <a:ext cx="3429000" cy="39684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47472"/>
            <a:ext cx="100584" cy="100584"/>
          </a:xfrm>
          <a:prstGeom prst="ellipse">
            <a:avLst/>
          </a:prstGeom>
          <a:solidFill>
            <a:srgbClr val="6C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6CA532"/>
                </a:solidFill>
                <a:latin typeface="Calibri"/>
              </a:rPr>
              <a:t>01  /  MEANING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E2A1C"/>
                </a:solidFill>
                <a:latin typeface="Calibri"/>
              </a:rPr>
              <a:t>What the name holds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13716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0E2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8778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VYTRA  =  Vision  +  Vitality  +  Tracking  + 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8778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8F3DC"/>
                </a:solidFill>
                <a:latin typeface="Calibri"/>
              </a:rPr>
              <a:t>PITCH DECK ONLY  ·  NEVER INSIDE THE WORKER APP, RESULT SCREEN, OR 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627632"/>
            <a:ext cx="3383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6CA532"/>
                </a:solidFill>
                <a:latin typeface="Calibri"/>
              </a:rPr>
              <a:t>Not a clinical claim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60320"/>
            <a:ext cx="2095804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697480"/>
            <a:ext cx="182148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0E2A1C"/>
                </a:solidFill>
                <a:latin typeface="Calibri"/>
              </a:rPr>
              <a:t>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383280"/>
            <a:ext cx="292608" cy="41148"/>
          </a:xfrm>
          <a:prstGeom prst="rect">
            <a:avLst/>
          </a:prstGeom>
          <a:solidFill>
            <a:srgbClr val="6C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547872"/>
            <a:ext cx="18031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E2A1C"/>
                </a:solidFill>
                <a:latin typeface="Calibri"/>
              </a:rPr>
              <a:t>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206240"/>
            <a:ext cx="1803196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75467"/>
                </a:solidFill>
                <a:latin typeface="Calibri"/>
              </a:rPr>
              <a:t>The camera is the sensor. We look at the eye, not a blood vial.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90748" y="2560320"/>
            <a:ext cx="2095804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55340" y="2697480"/>
            <a:ext cx="182148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0E2A1C"/>
                </a:solidFill>
                <a:latin typeface="Calibri"/>
              </a:rPr>
              <a:t>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73628" y="3383280"/>
            <a:ext cx="292608" cy="41148"/>
          </a:xfrm>
          <a:prstGeom prst="rect">
            <a:avLst/>
          </a:prstGeom>
          <a:solidFill>
            <a:srgbClr val="6C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5340" y="3547872"/>
            <a:ext cx="18031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E2A1C"/>
                </a:solidFill>
                <a:latin typeface="Calibri"/>
              </a:rPr>
              <a:t>Your 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5340" y="4206240"/>
            <a:ext cx="1803196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75467"/>
                </a:solidFill>
                <a:latin typeface="Calibri"/>
              </a:rPr>
              <a:t>Built for the person in the house. Used by the worker in front of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32857" y="2560320"/>
            <a:ext cx="2095804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97449" y="2697480"/>
            <a:ext cx="182148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0E2A1C"/>
                </a:solidFill>
                <a:latin typeface="Calibri"/>
              </a:rPr>
              <a:t>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5737" y="3383280"/>
            <a:ext cx="292608" cy="41148"/>
          </a:xfrm>
          <a:prstGeom prst="rect">
            <a:avLst/>
          </a:prstGeom>
          <a:solidFill>
            <a:srgbClr val="6C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7449" y="3547872"/>
            <a:ext cx="18031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E2A1C"/>
                </a:solidFill>
                <a:latin typeface="Calibri"/>
              </a:rPr>
              <a:t>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7449" y="4206240"/>
            <a:ext cx="1803196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75467"/>
                </a:solidFill>
                <a:latin typeface="Calibri"/>
              </a:rPr>
              <a:t>Each visit becomes a dated, shareable note — not only a verbal hunch.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74966" y="2560320"/>
            <a:ext cx="2095804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39558" y="2697480"/>
            <a:ext cx="182148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0E2A1C"/>
                </a:solidFill>
                <a:latin typeface="Calibri"/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57846" y="3383280"/>
            <a:ext cx="292608" cy="41148"/>
          </a:xfrm>
          <a:prstGeom prst="rect">
            <a:avLst/>
          </a:prstGeom>
          <a:solidFill>
            <a:srgbClr val="6C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39558" y="3547872"/>
            <a:ext cx="18031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E2A1C"/>
                </a:solidFill>
                <a:latin typeface="Calibri"/>
              </a:rPr>
              <a:t>Recognition / Response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9558" y="4206240"/>
            <a:ext cx="1803196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75467"/>
                </a:solidFill>
                <a:latin typeface="Calibri"/>
              </a:rPr>
              <a:t>Recognise a colour signal. Respond with a referral, not a prescription.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17075" y="2560320"/>
            <a:ext cx="2095804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1667" y="2697480"/>
            <a:ext cx="182148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0E2A1C"/>
                </a:solidFill>
                <a:latin typeface="Calibri"/>
              </a:rPr>
              <a:t>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9955" y="3383280"/>
            <a:ext cx="292608" cy="41148"/>
          </a:xfrm>
          <a:prstGeom prst="rect">
            <a:avLst/>
          </a:prstGeom>
          <a:solidFill>
            <a:srgbClr val="6C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81667" y="3547872"/>
            <a:ext cx="18031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E2A1C"/>
                </a:solidFill>
                <a:latin typeface="Calibri"/>
              </a:rPr>
              <a:t>AI /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1667" y="4206240"/>
            <a:ext cx="1803196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75467"/>
                </a:solidFill>
                <a:latin typeface="Calibri"/>
              </a:rPr>
              <a:t>On-device colour analysis. Not a cloud “AI doctor.”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475467"/>
                </a:solidFill>
                <a:latin typeface="Calibri"/>
              </a:rPr>
              <a:t>VYTRA  ·  Brand Identity 1.0  ·  See Health. Detect Early.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475467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47472"/>
            <a:ext cx="100584" cy="100584"/>
          </a:xfrm>
          <a:prstGeom prst="ellipse">
            <a:avLst/>
          </a:prstGeom>
          <a:solidFill>
            <a:srgbClr val="6C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6CA532"/>
                </a:solidFill>
                <a:latin typeface="Calibri"/>
              </a:rPr>
              <a:t>01  /  MEANING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E2A1C"/>
                </a:solidFill>
                <a:latin typeface="Calibri"/>
              </a:rPr>
              <a:t>Brand line and naming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13716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669280" cy="4709160"/>
          </a:xfrm>
          <a:prstGeom prst="roundRect">
            <a:avLst>
              <a:gd name="adj" fmla="val 8000"/>
            </a:avLst>
          </a:prstGeom>
          <a:solidFill>
            <a:srgbClr val="0E2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6CA532"/>
                </a:solidFill>
                <a:latin typeface="Calibri"/>
              </a:rPr>
              <a:t>BRAND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50292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“See Health.
Detect Early.”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502920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E8F3DC"/>
                </a:solidFill>
                <a:latin typeface="Calibri"/>
              </a:rPr>
              <a:t>Home, splash, title slide only.
Never on the result screen or the referral PDF — those surfaces carry a medical disclaimer, not a slogan.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417320"/>
            <a:ext cx="516636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645920"/>
            <a:ext cx="4754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4F7E24"/>
                </a:solidFill>
                <a:latin typeface="Calibri"/>
              </a:rPr>
              <a:t>HOW THE NAME IS WRITTEN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057400"/>
            <a:ext cx="4709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E2A1C"/>
                </a:solidFill>
                <a:latin typeface="Calibri"/>
              </a:rPr>
              <a:t>Logo / splash / home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295144"/>
            <a:ext cx="47091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75467"/>
                </a:solidFill>
                <a:latin typeface="Calibri"/>
              </a:rPr>
              <a:t>Official PNG lockup. Never a homemade V.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770632"/>
            <a:ext cx="4709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E2A1C"/>
                </a:solidFill>
                <a:latin typeface="Calibri"/>
              </a:rPr>
              <a:t>SIH / college forms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008376"/>
            <a:ext cx="47091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75467"/>
                </a:solidFill>
                <a:latin typeface="Calibri"/>
              </a:rPr>
              <a:t>VYTRA — unique, no college in the name.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483864"/>
            <a:ext cx="4709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E2A1C"/>
                </a:solidFill>
                <a:latin typeface="Calibri"/>
              </a:rPr>
              <a:t>Sentences in docs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721608"/>
            <a:ext cx="47091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75467"/>
                </a:solidFill>
                <a:latin typeface="Calibri"/>
              </a:rPr>
              <a:t>VYTRA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197096"/>
            <a:ext cx="4709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E2A1C"/>
                </a:solidFill>
                <a:latin typeface="Calibri"/>
              </a:rPr>
              <a:t>Fallback text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434840"/>
            <a:ext cx="47091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75467"/>
                </a:solidFill>
                <a:latin typeface="Calibri"/>
              </a:rPr>
              <a:t>vytra  ·  Noto Sans Medium  ·  lowercase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910328"/>
            <a:ext cx="4709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E2A1C"/>
                </a:solidFill>
                <a:latin typeface="Calibri"/>
              </a:rPr>
              <a:t>Never write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5148072"/>
            <a:ext cx="47091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75467"/>
                </a:solidFill>
                <a:latin typeface="Calibri"/>
              </a:rPr>
              <a:t>Vytra   ·   VYTRA-AI   ·   AnamoAI   ·   MRCET_VYTRA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475467"/>
                </a:solidFill>
                <a:latin typeface="Calibri"/>
              </a:rPr>
              <a:t>VYTRA  ·  Brand Identity 1.0  ·  See Health. Detect Early.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475467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47472"/>
            <a:ext cx="100584" cy="100584"/>
          </a:xfrm>
          <a:prstGeom prst="ellipse">
            <a:avLst/>
          </a:prstGeom>
          <a:solidFill>
            <a:srgbClr val="6C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6CA532"/>
                </a:solidFill>
                <a:latin typeface="Calibri"/>
              </a:rPr>
              <a:t>02  /  LOGO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E2A1C"/>
                </a:solidFill>
                <a:latin typeface="Calibri"/>
              </a:rPr>
              <a:t>One mark. Four files.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11064240" cy="13716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416052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44752"/>
            <a:ext cx="3749039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475467"/>
                </a:solidFill>
                <a:latin typeface="Calibri"/>
              </a:rPr>
              <a:t>PRIMARY LOCKUP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779008"/>
            <a:ext cx="3749039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475467"/>
                </a:solidFill>
                <a:latin typeface="Calibri"/>
              </a:rPr>
              <a:t>vytra_logo_lockup.png</a:t>
            </a:r>
          </a:p>
        </p:txBody>
      </p:sp>
      <p:pic>
        <p:nvPicPr>
          <p:cNvPr id="10" name="Picture 9" descr="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28800"/>
            <a:ext cx="3337560" cy="3794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846320" y="1325880"/>
            <a:ext cx="352044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444752"/>
            <a:ext cx="3200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475467"/>
                </a:solidFill>
                <a:latin typeface="Calibri"/>
              </a:rPr>
              <a:t>SYMBOL / MARK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5779008"/>
            <a:ext cx="3200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475467"/>
                </a:solidFill>
                <a:latin typeface="Calibri"/>
              </a:rPr>
              <a:t>vytra_mark.png</a:t>
            </a:r>
          </a:p>
        </p:txBody>
      </p:sp>
      <p:pic>
        <p:nvPicPr>
          <p:cNvPr id="14" name="Picture 13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331720"/>
            <a:ext cx="3063240" cy="227685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503920" y="1325880"/>
            <a:ext cx="3108960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68512" y="1408176"/>
            <a:ext cx="2788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475467"/>
                </a:solidFill>
                <a:latin typeface="Calibri"/>
              </a:rPr>
              <a:t>APP ICON · LIGHT</a:t>
            </a:r>
          </a:p>
        </p:txBody>
      </p:sp>
      <p:pic>
        <p:nvPicPr>
          <p:cNvPr id="17" name="Picture 16" descr="icon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1691640"/>
            <a:ext cx="1554480" cy="15544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503920" y="3794760"/>
            <a:ext cx="3108960" cy="2331720"/>
          </a:xfrm>
          <a:prstGeom prst="roundRect">
            <a:avLst>
              <a:gd name="adj" fmla="val 8000"/>
            </a:avLst>
          </a:prstGeom>
          <a:solidFill>
            <a:srgbClr val="0E2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68512" y="3877056"/>
            <a:ext cx="2788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8F3DC"/>
                </a:solidFill>
                <a:latin typeface="Calibri"/>
              </a:rPr>
              <a:t>APP ICON · DARK</a:t>
            </a:r>
          </a:p>
        </p:txBody>
      </p:sp>
      <p:pic>
        <p:nvPicPr>
          <p:cNvPr id="20" name="Picture 19" descr="icon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4160520"/>
            <a:ext cx="1554480" cy="15544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475467"/>
                </a:solidFill>
                <a:latin typeface="Calibri"/>
              </a:rPr>
              <a:t>VYTRA  ·  Brand Identity 1.0  ·  See Health. Detect Early.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475467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47472"/>
            <a:ext cx="100584" cy="100584"/>
          </a:xfrm>
          <a:prstGeom prst="ellipse">
            <a:avLst/>
          </a:prstGeom>
          <a:solidFill>
            <a:srgbClr val="6C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6CA532"/>
                </a:solidFill>
                <a:latin typeface="Calibri"/>
              </a:rPr>
              <a:t>02  /  LOGO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E2A1C"/>
                </a:solidFill>
                <a:latin typeface="Calibri"/>
              </a:rPr>
              <a:t>Primary lockup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11064240" cy="13716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685800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554480"/>
            <a:ext cx="5074920" cy="4343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89520" y="1325880"/>
            <a:ext cx="402336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554480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4F7E24"/>
                </a:solidFill>
                <a:latin typeface="Calibri"/>
              </a:rPr>
              <a:t>USE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920240"/>
            <a:ext cx="36576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▸  Title slide of the SIH deck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267712"/>
            <a:ext cx="36576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▸  App splash and S01 / S02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615184"/>
            <a:ext cx="36576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▸  Poster and first screen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962656"/>
            <a:ext cx="36576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▸  PDF header — small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429000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42318"/>
                </a:solidFill>
                <a:latin typeface="Calibri"/>
              </a:rPr>
              <a:t>NEVER 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3794760"/>
            <a:ext cx="36576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▸  A photograph or busy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4142232"/>
            <a:ext cx="36576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▸  A risk tile or result card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4489704"/>
            <a:ext cx="36576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▸  Consent or PDF body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4837176"/>
            <a:ext cx="36576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▸  Next to a homemade wordmark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5349240"/>
            <a:ext cx="3657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75467"/>
                </a:solidFill>
                <a:latin typeface="Calibri"/>
              </a:rPr>
              <a:t>Category line AI HEALTH SCREENING travels with this lockup only.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475467"/>
                </a:solidFill>
                <a:latin typeface="Calibri"/>
              </a:rPr>
              <a:t>VYTRA  ·  Brand Identity 1.0  ·  See Health. Detect Early.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475467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47472"/>
            <a:ext cx="100584" cy="100584"/>
          </a:xfrm>
          <a:prstGeom prst="ellipse">
            <a:avLst/>
          </a:prstGeom>
          <a:solidFill>
            <a:srgbClr val="6C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6CA532"/>
                </a:solidFill>
                <a:latin typeface="Calibri"/>
              </a:rPr>
              <a:t>02  /  LOGO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E2A1C"/>
                </a:solidFill>
                <a:latin typeface="Calibri"/>
              </a:rPr>
              <a:t>Anatomy — do not separate the parts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11064240" cy="13716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94360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965960"/>
            <a:ext cx="4937760" cy="366674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1371600"/>
            <a:ext cx="48920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76288" y="1645920"/>
            <a:ext cx="329184" cy="329184"/>
          </a:xfrm>
          <a:prstGeom prst="ellipse">
            <a:avLst/>
          </a:prstGeom>
          <a:solidFill>
            <a:srgbClr val="0E2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76288" y="1682496"/>
            <a:ext cx="32918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481328"/>
            <a:ext cx="4069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E2A1C"/>
                </a:solidFill>
                <a:latin typeface="Calibri"/>
              </a:rPr>
              <a:t>Forest 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1773936"/>
            <a:ext cx="40690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75467"/>
                </a:solidFill>
                <a:latin typeface="Calibri"/>
              </a:rPr>
              <a:t>Primary letterform. #0E2A1C. Never outline, bevel, or redraw.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2322576"/>
            <a:ext cx="48920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76288" y="2596896"/>
            <a:ext cx="329184" cy="329184"/>
          </a:xfrm>
          <a:prstGeom prst="ellipse">
            <a:avLst/>
          </a:prstGeom>
          <a:solidFill>
            <a:srgbClr val="0E2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76288" y="2633472"/>
            <a:ext cx="32918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2432304"/>
            <a:ext cx="4069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E2A1C"/>
                </a:solidFill>
                <a:latin typeface="Calibri"/>
              </a:rPr>
              <a:t>Leaf-pulse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724912"/>
            <a:ext cx="40690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75467"/>
                </a:solidFill>
                <a:latin typeface="Calibri"/>
              </a:rPr>
              <a:t>Heartbeat + leaf in #6CA532. A clinical signal — not a diagnosis.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3273552"/>
            <a:ext cx="48920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76288" y="3547872"/>
            <a:ext cx="329184" cy="329184"/>
          </a:xfrm>
          <a:prstGeom prst="ellipse">
            <a:avLst/>
          </a:prstGeom>
          <a:solidFill>
            <a:srgbClr val="0E2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3584448"/>
            <a:ext cx="32918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3383280"/>
            <a:ext cx="4069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E2A1C"/>
                </a:solidFill>
                <a:latin typeface="Calibri"/>
              </a:rPr>
              <a:t>Living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3675888"/>
            <a:ext cx="40690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75467"/>
                </a:solidFill>
                <a:latin typeface="Calibri"/>
              </a:rPr>
              <a:t>Lime dot, upper right. Clear space = the height of this dot.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4224528"/>
            <a:ext cx="48920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76288" y="4498848"/>
            <a:ext cx="329184" cy="329184"/>
          </a:xfrm>
          <a:prstGeom prst="ellipse">
            <a:avLst/>
          </a:prstGeom>
          <a:solidFill>
            <a:srgbClr val="0E2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76288" y="4535424"/>
            <a:ext cx="32918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4334256"/>
            <a:ext cx="4069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E2A1C"/>
                </a:solidFill>
                <a:latin typeface="Calibri"/>
              </a:rPr>
              <a:t>Wordmark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4626864"/>
            <a:ext cx="40690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75467"/>
                </a:solidFill>
                <a:latin typeface="Calibri"/>
              </a:rPr>
              <a:t>lowercase vytra, same forest green. Do not set it in another font.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5175504"/>
            <a:ext cx="48920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76288" y="5449824"/>
            <a:ext cx="329184" cy="329184"/>
          </a:xfrm>
          <a:prstGeom prst="ellipse">
            <a:avLst/>
          </a:prstGeom>
          <a:solidFill>
            <a:srgbClr val="0E2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76288" y="5486400"/>
            <a:ext cx="32918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5285232"/>
            <a:ext cx="4069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E2A1C"/>
                </a:solidFill>
                <a:latin typeface="Calibri"/>
              </a:rPr>
              <a:t>Category 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5577840"/>
            <a:ext cx="40690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75467"/>
                </a:solidFill>
                <a:latin typeface="Calibri"/>
              </a:rPr>
              <a:t>AI HEALTH SCREENING — title slide, splash, S01 only.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475467"/>
                </a:solidFill>
                <a:latin typeface="Calibri"/>
              </a:rPr>
              <a:t>VYTRA  ·  Brand Identity 1.0  ·  See Health. Detect Early.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475467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47472"/>
            <a:ext cx="100584" cy="100584"/>
          </a:xfrm>
          <a:prstGeom prst="ellipse">
            <a:avLst/>
          </a:prstGeom>
          <a:solidFill>
            <a:srgbClr val="6C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6CA532"/>
                </a:solidFill>
                <a:latin typeface="Calibri"/>
              </a:rPr>
              <a:t>03  /  COLOUR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E2A1C"/>
                </a:solidFill>
                <a:latin typeface="Calibri"/>
              </a:rPr>
              <a:t>Two greens are the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11064240" cy="13716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7830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54480"/>
            <a:ext cx="1563624" cy="1691640"/>
          </a:xfrm>
          <a:prstGeom prst="rect">
            <a:avLst/>
          </a:prstGeom>
          <a:solidFill>
            <a:srgbClr val="0E2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3383280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E2A1C"/>
                </a:solidFill>
                <a:latin typeface="Calibri"/>
              </a:rPr>
              <a:t>Forest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3657600"/>
            <a:ext cx="15087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75467"/>
                </a:solidFill>
                <a:latin typeface="Calibri"/>
              </a:rPr>
              <a:t>#0E2A1C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931920"/>
            <a:ext cx="1508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475467"/>
                </a:solidFill>
                <a:latin typeface="Calibri"/>
              </a:rPr>
              <a:t>V, wordmark, headers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1417320"/>
            <a:ext cx="17830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78608" y="1554480"/>
            <a:ext cx="1563624" cy="1691640"/>
          </a:xfrm>
          <a:prstGeom prst="rect">
            <a:avLst/>
          </a:prstGeom>
          <a:solidFill>
            <a:srgbClr val="6C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5184" y="3383280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E2A1C"/>
                </a:solidFill>
                <a:latin typeface="Calibri"/>
              </a:rPr>
              <a:t>Pulse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5184" y="3657600"/>
            <a:ext cx="15087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75467"/>
                </a:solidFill>
                <a:latin typeface="Calibri"/>
              </a:rPr>
              <a:t>#6CA532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5184" y="3931920"/>
            <a:ext cx="1508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475467"/>
                </a:solidFill>
                <a:latin typeface="Calibri"/>
              </a:rPr>
              <a:t>Leaf-pulse, dot, accent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417320"/>
            <a:ext cx="17830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98848" y="1554480"/>
            <a:ext cx="1563624" cy="1691640"/>
          </a:xfrm>
          <a:prstGeom prst="rect">
            <a:avLst/>
          </a:prstGeom>
          <a:solidFill>
            <a:srgbClr val="E8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5424" y="3383280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E2A1C"/>
                </a:solidFill>
                <a:latin typeface="Calibri"/>
              </a:rPr>
              <a:t>Soft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3657600"/>
            <a:ext cx="15087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75467"/>
                </a:solidFill>
                <a:latin typeface="Calibri"/>
              </a:rPr>
              <a:t>#E8F3DC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4" y="3931920"/>
            <a:ext cx="1508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475467"/>
                </a:solidFill>
                <a:latin typeface="Calibri"/>
              </a:rPr>
              <a:t>Chips, selected state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417320"/>
            <a:ext cx="17830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19088" y="1554480"/>
            <a:ext cx="156362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5664" y="3383280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E2A1C"/>
                </a:solidFill>
                <a:latin typeface="Calibri"/>
              </a:rPr>
              <a:t>Paper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3657600"/>
            <a:ext cx="15087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75467"/>
                </a:solidFill>
                <a:latin typeface="Calibri"/>
              </a:rPr>
              <a:t>#FFFFFF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3931920"/>
            <a:ext cx="1508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475467"/>
                </a:solidFill>
                <a:latin typeface="Calibri"/>
              </a:rPr>
              <a:t>Logo always sits here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1417320"/>
            <a:ext cx="17830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39327" y="1554480"/>
            <a:ext cx="1563624" cy="16916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5904" y="3383280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E2A1C"/>
                </a:solidFill>
                <a:latin typeface="Calibri"/>
              </a:rPr>
              <a:t>Ink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3657600"/>
            <a:ext cx="15087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75467"/>
                </a:solidFill>
                <a:latin typeface="Calibri"/>
              </a:rPr>
              <a:t>#0F172A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3931920"/>
            <a:ext cx="1508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475467"/>
                </a:solidFill>
                <a:latin typeface="Calibri"/>
              </a:rPr>
              <a:t>Body text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49840" y="1417320"/>
            <a:ext cx="17830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259567" y="1554480"/>
            <a:ext cx="1563624" cy="1691640"/>
          </a:xfrm>
          <a:prstGeom prst="rect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96144" y="3383280"/>
            <a:ext cx="1508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E2A1C"/>
                </a:solidFill>
                <a:latin typeface="Calibri"/>
              </a:rPr>
              <a:t>Muted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96144" y="3657600"/>
            <a:ext cx="15087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75467"/>
                </a:solidFill>
                <a:latin typeface="Calibri"/>
              </a:rPr>
              <a:t>#475467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96144" y="3931920"/>
            <a:ext cx="1508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475467"/>
                </a:solidFill>
                <a:latin typeface="Calibri"/>
              </a:rPr>
              <a:t>Secondary 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892040"/>
            <a:ext cx="11064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E2A1C"/>
                </a:solidFill>
                <a:latin typeface="Calibri"/>
              </a:rPr>
              <a:t>Do not recolour the pulse to teal. The two greens are the identity.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75467"/>
                </a:solidFill>
                <a:latin typeface="Calibri"/>
              </a:rPr>
              <a:t>Risk tokens are clinical UI only — never apply them to the mark.
High  #B42318     Moderate  #B54708     Low  #027A48     Unable  #475467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475467"/>
                </a:solidFill>
                <a:latin typeface="Calibri"/>
              </a:rPr>
              <a:t>VYTRA  ·  Brand Identity 1.0  ·  See Health. Detect Early.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475467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47472"/>
            <a:ext cx="100584" cy="100584"/>
          </a:xfrm>
          <a:prstGeom prst="ellipse">
            <a:avLst/>
          </a:prstGeom>
          <a:solidFill>
            <a:srgbClr val="6C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6CA532"/>
                </a:solidFill>
                <a:latin typeface="Calibri"/>
              </a:rPr>
              <a:t>04  /  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E2A1C"/>
                </a:solidFill>
                <a:latin typeface="Calibri"/>
              </a:rPr>
              <a:t>Where each line may appear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11064240" cy="13716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1064240" cy="420624"/>
          </a:xfrm>
          <a:prstGeom prst="rect">
            <a:avLst/>
          </a:prstGeom>
          <a:solidFill>
            <a:srgbClr val="0E2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08176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LINE /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408176"/>
            <a:ext cx="3840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ALLOWED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408176"/>
            <a:ext cx="3566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FORBIDDEN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46504"/>
            <a:ext cx="1106424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11095"/>
            <a:ext cx="31089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E2A1C"/>
                </a:solidFill>
                <a:latin typeface="Calibri"/>
              </a:rPr>
              <a:t>Mark + vytra lockup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911095"/>
            <a:ext cx="38404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Splash, S01, S02, PPT title, PDF header (small)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911095"/>
            <a:ext cx="35661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B42318"/>
                </a:solidFill>
                <a:latin typeface="Calibri"/>
              </a:rPr>
              <a:t>On a photograph or a risk tile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04872"/>
            <a:ext cx="11064240" cy="658368"/>
          </a:xfrm>
          <a:prstGeom prst="rect">
            <a:avLst/>
          </a:prstGeom>
          <a:solidFill>
            <a:srgbClr val="F3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569464"/>
            <a:ext cx="31089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E2A1C"/>
                </a:solidFill>
                <a:latin typeface="Calibri"/>
              </a:rPr>
              <a:t>AI HEALTH SCREENING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569464"/>
            <a:ext cx="38404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Under the lockup on S01 / title slide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569464"/>
            <a:ext cx="35661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B42318"/>
                </a:solidFill>
                <a:latin typeface="Calibri"/>
              </a:rPr>
              <a:t>Result screen, PDF body, consent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063239"/>
            <a:ext cx="1106424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227832"/>
            <a:ext cx="31089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E2A1C"/>
                </a:solidFill>
                <a:latin typeface="Calibri"/>
              </a:rPr>
              <a:t>See Health. Detect Early.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227832"/>
            <a:ext cx="38404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S01, S02, splash, under the lockup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227832"/>
            <a:ext cx="35661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B42318"/>
                </a:solidFill>
                <a:latin typeface="Calibri"/>
              </a:rPr>
              <a:t>Result screen, PDF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21607"/>
            <a:ext cx="11064240" cy="658368"/>
          </a:xfrm>
          <a:prstGeom prst="rect">
            <a:avLst/>
          </a:prstGeom>
          <a:solidFill>
            <a:srgbClr val="F3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886199"/>
            <a:ext cx="31089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E2A1C"/>
                </a:solidFill>
                <a:latin typeface="Calibri"/>
              </a:rPr>
              <a:t>Vision + Vitality + Tracking +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3886199"/>
            <a:ext cx="38404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Pitch deck and this book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886199"/>
            <a:ext cx="35661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B42318"/>
                </a:solidFill>
                <a:latin typeface="Calibri"/>
              </a:rPr>
              <a:t>Worker app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79975"/>
            <a:ext cx="1106424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544567"/>
            <a:ext cx="31089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E2A1C"/>
                </a:solidFill>
                <a:latin typeface="Calibri"/>
              </a:rPr>
              <a:t>“vitality + diagnostics”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4544567"/>
            <a:ext cx="38404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Designer archive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544567"/>
            <a:ext cx="35661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B42318"/>
                </a:solidFill>
                <a:latin typeface="Calibri"/>
              </a:rPr>
              <a:t>Nowhere in the product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038343"/>
            <a:ext cx="11064240" cy="658368"/>
          </a:xfrm>
          <a:prstGeom prst="rect">
            <a:avLst/>
          </a:prstGeom>
          <a:solidFill>
            <a:srgbClr val="F3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202935"/>
            <a:ext cx="31089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E2A1C"/>
                </a:solidFill>
                <a:latin typeface="Calibri"/>
              </a:rPr>
              <a:t>Dark app icon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5202935"/>
            <a:ext cx="38404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Dark splash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5202935"/>
            <a:ext cx="35661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B42318"/>
                </a:solidFill>
                <a:latin typeface="Calibri"/>
              </a:rPr>
              <a:t>Do not invert the two greens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475467"/>
                </a:solidFill>
                <a:latin typeface="Calibri"/>
              </a:rPr>
              <a:t>VYTRA  ·  Brand Identity 1.0  ·  See Health. Detect Early.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475467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47472"/>
            <a:ext cx="100584" cy="100584"/>
          </a:xfrm>
          <a:prstGeom prst="ellipse">
            <a:avLst/>
          </a:prstGeom>
          <a:solidFill>
            <a:srgbClr val="6C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6CA532"/>
                </a:solidFill>
                <a:latin typeface="Calibri"/>
              </a:rPr>
              <a:t>04  /  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E2A1C"/>
                </a:solidFill>
                <a:latin typeface="Calibri"/>
              </a:rPr>
              <a:t>Clear space, icons, mistakes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11064240" cy="13716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53212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109728" cy="4709160"/>
          </a:xfrm>
          <a:prstGeom prst="rect">
            <a:avLst/>
          </a:prstGeom>
          <a:solidFill>
            <a:srgbClr val="027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27A48"/>
                </a:solidFill>
                <a:latin typeface="Calibri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●   Keep clear space equal to the height of the green dot.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●   Sit the logo on white or very near-white.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●   Use the official PNG. Do not redraw.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20439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●   On dark grounds: white plate, or the dark app icon.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23359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●   Launcher = mark on a white rounded square.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26279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●   Adaptive icon: foreground = mark, background #FFFFFF. Safe zone 66%.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199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●   No wordmark on the small app icon — it will collapse.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371600"/>
            <a:ext cx="530352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371600"/>
            <a:ext cx="109728" cy="470916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554480"/>
            <a:ext cx="4709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42318"/>
                </a:solidFill>
                <a:latin typeface="Calibri"/>
              </a:rPr>
              <a:t>DON’T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011680"/>
            <a:ext cx="4709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●   Do not outline, bevel, or add a drop shadow.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514600"/>
            <a:ext cx="4709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●   Do not place the mark on a busy photograph.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017520"/>
            <a:ext cx="4709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●   Do not separate the pulse from the V.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520439"/>
            <a:ext cx="4709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●   Do not replace the pulse with a caduceus or red cross.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023359"/>
            <a:ext cx="4709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●   Do not invert or recolour the two greens.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526279"/>
            <a:ext cx="4709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●   Do not invent a second mark or an eye-only icon.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029199"/>
            <a:ext cx="4709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●   Do not print “diagnostics” on any worker surface.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475467"/>
                </a:solidFill>
                <a:latin typeface="Calibri"/>
              </a:rPr>
              <a:t>VYTRA  ·  Brand Identity 1.0  ·  See Health. Detect Early.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475467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47472"/>
            <a:ext cx="100584" cy="100584"/>
          </a:xfrm>
          <a:prstGeom prst="ellipse">
            <a:avLst/>
          </a:prstGeom>
          <a:solidFill>
            <a:srgbClr val="6C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6CA532"/>
                </a:solidFill>
                <a:latin typeface="Calibri"/>
              </a:rPr>
              <a:t>05  / 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E2A1C"/>
                </a:solidFill>
                <a:latin typeface="Calibri"/>
              </a:rPr>
              <a:t>Ship these. Archive the rest.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11064240" cy="13716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1064240" cy="420624"/>
          </a:xfrm>
          <a:prstGeom prst="rect">
            <a:avLst/>
          </a:prstGeom>
          <a:solidFill>
            <a:srgbClr val="0E2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08176"/>
            <a:ext cx="3840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408176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408176"/>
            <a:ext cx="4389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46504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83664"/>
            <a:ext cx="38404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E2A1C"/>
                </a:solidFill>
                <a:latin typeface="Calibri"/>
              </a:rPr>
              <a:t>vytra_mark.png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883664"/>
            <a:ext cx="21945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Symbol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883664"/>
            <a:ext cx="4389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App icon, splash mark, slide corner, favicon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13432"/>
            <a:ext cx="11064240" cy="566928"/>
          </a:xfrm>
          <a:prstGeom prst="rect">
            <a:avLst/>
          </a:prstGeom>
          <a:solidFill>
            <a:srgbClr val="F3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50591"/>
            <a:ext cx="38404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E2A1C"/>
                </a:solidFill>
                <a:latin typeface="Calibri"/>
              </a:rPr>
              <a:t>vytra_logo_lockup.png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450591"/>
            <a:ext cx="21945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Primary lockup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450591"/>
            <a:ext cx="4389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Title slide, poster, first screen of the app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880360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017520"/>
            <a:ext cx="38404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E2A1C"/>
                </a:solidFill>
                <a:latin typeface="Calibri"/>
              </a:rPr>
              <a:t>vytra_logo_official.png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017520"/>
            <a:ext cx="21945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Stacked official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017520"/>
            <a:ext cx="4389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Square crop of the same lockup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447288"/>
            <a:ext cx="11064240" cy="566928"/>
          </a:xfrm>
          <a:prstGeom prst="rect">
            <a:avLst/>
          </a:prstGeom>
          <a:solidFill>
            <a:srgbClr val="F3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584448"/>
            <a:ext cx="38404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E2A1C"/>
                </a:solidFill>
                <a:latin typeface="Calibri"/>
              </a:rPr>
              <a:t>vytra_logo_for_slides.png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584448"/>
            <a:ext cx="21945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Slide lockup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584448"/>
            <a:ext cx="4389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Identical to the primary lockup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014215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151376"/>
            <a:ext cx="38404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E2A1C"/>
                </a:solidFill>
                <a:latin typeface="Calibri"/>
              </a:rPr>
              <a:t>vytra_app_icon_light.png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151376"/>
            <a:ext cx="21945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Launcher / light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151376"/>
            <a:ext cx="4389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Adaptive / launcher on light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581144"/>
            <a:ext cx="11064240" cy="566928"/>
          </a:xfrm>
          <a:prstGeom prst="rect">
            <a:avLst/>
          </a:prstGeom>
          <a:solidFill>
            <a:srgbClr val="F3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718304"/>
            <a:ext cx="38404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E2A1C"/>
                </a:solidFill>
                <a:latin typeface="Calibri"/>
              </a:rPr>
              <a:t>vytra_app_icon_dark.png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718304"/>
            <a:ext cx="21945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Dark splash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718304"/>
            <a:ext cx="4389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Dark splash only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148072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285232"/>
            <a:ext cx="38404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E2A1C"/>
                </a:solidFill>
                <a:latin typeface="Calibri"/>
              </a:rPr>
              <a:t>vytra_logo_source.jpg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5285232"/>
            <a:ext cx="21945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Archive only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5285232"/>
            <a:ext cx="4389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B42318"/>
                </a:solidFill>
                <a:latin typeface="Calibri"/>
              </a:rPr>
              <a:t>Designer notes — do not ship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75467"/>
                </a:solidFill>
                <a:latin typeface="Calibri"/>
              </a:rPr>
              <a:t>Artwork locked 12 August 2026. Do not redraw the V, the pulse, or the wordmark in another font.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475467"/>
                </a:solidFill>
                <a:latin typeface="Calibri"/>
              </a:rPr>
              <a:t>VYTRA  ·  Brand Identity 1.0  ·  See Health. Detect Early.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47546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C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75720" y="384048"/>
            <a:ext cx="201168" cy="201168"/>
          </a:xfrm>
          <a:prstGeom prst="ellipse">
            <a:avLst/>
          </a:prstGeom>
          <a:solidFill>
            <a:srgbClr val="6C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6CA532"/>
                </a:solidFill>
                <a:latin typeface="Calibri"/>
              </a:rPr>
              <a:t>TEAM VYTRA  ·  SIH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11680"/>
            <a:ext cx="109728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See Health. Detect Early.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83280"/>
            <a:ext cx="102412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E8F3DC"/>
                </a:solidFill>
                <a:latin typeface="Calibri"/>
              </a:rPr>
              <a:t>Offline smartphone screening aid for ASHA workers.
Not a diagnosis. Not a medical device.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937760"/>
            <a:ext cx="10515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9BB39A"/>
                </a:solidFill>
                <a:latin typeface="Calibri"/>
              </a:rPr>
              <a:t>This screening result is not a medical diagnosis. It is a triage aid for trained health workers only.
All results require confirmation by a qualified medical professional.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126480"/>
            <a:ext cx="10515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7A9678"/>
                </a:solidFill>
                <a:latin typeface="Calibri"/>
              </a:rPr>
              <a:t>Identity 1.0  ·  13 August 2026  ·  Artwork locked  ·  Do not redraw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